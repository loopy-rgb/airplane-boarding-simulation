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f03f3d0-f0e2-d7f5-968a-5568ee6f2d22}">
          <p14:sldIdLst>
            <p14:sldId id="256"/>
            <p14:sldId id="257"/>
            <p14:sldId id="258"/>
          </p14:sldIdLst>
        </p14:section>
        <p14:section name="Model design" id="{bfd9ae08-4b66-f063-6ce7-2d3eaf5d9e8e}">
          <p14:sldIdLst>
            <p14:sldId id="259"/>
            <p14:sldId id="260"/>
          </p14:sldIdLst>
        </p14:section>
        <p14:section name="Build" id="{c6b3a385-d762-d876-4b3a-191060e85fad}">
          <p14:sldIdLst>
            <p14:sldId id="261"/>
            <p14:sldId id="262"/>
            <p14:sldId id="263"/>
          </p14:sldIdLst>
        </p14:section>
        <p14:section name="Results" id="{cea58b64-b506-a4d7-4898-89b902d3ac30}">
          <p14:sldIdLst>
            <p14:sldId id="264"/>
            <p14:sldId id="265"/>
            <p14:sldId id="266"/>
            <p14:sldId id="267"/>
          </p14:sldIdLst>
        </p14:section>
        <p14:section name="Proof and action" id="{98f953c0-c78e-5883-f714-9a9fa3edadec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baseline</c:v>
                </c:pt>
              </c:strCache>
            </c:strRef>
          </c:tx>
          <c:spPr>
            <a:solidFill>
              <a:srgbClr val="2A7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Steffen</c:v>
                  </c:pt>
                  <c:pt idx="1">
                    <c:v>Outside-In</c:v>
                  </c:pt>
                  <c:pt idx="2">
                    <c:v>Random</c:v>
                  </c:pt>
                  <c:pt idx="3">
                    <c:v>Back-to-Front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687</c:v>
                </c:pt>
                <c:pt idx="1">
                  <c:v>1050</c:v>
                </c:pt>
                <c:pt idx="2">
                  <c:v>1238</c:v>
                </c:pt>
                <c:pt idx="3">
                  <c:v>1594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Philippine conditions</c:v>
                </c:pt>
              </c:strCache>
            </c:strRef>
          </c:tx>
          <c:spPr>
            <a:solidFill>
              <a:srgbClr val="E88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Steffen</c:v>
                  </c:pt>
                  <c:pt idx="1">
                    <c:v>Outside-In</c:v>
                  </c:pt>
                  <c:pt idx="2">
                    <c:v>Random</c:v>
                  </c:pt>
                  <c:pt idx="3">
                    <c:v>Back-to-Front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1211</c:v>
                </c:pt>
                <c:pt idx="1">
                  <c:v>1384</c:v>
                </c:pt>
                <c:pt idx="2">
                  <c:v>1455</c:v>
                </c:pt>
                <c:pt idx="3">
                  <c:v>1736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3E4C5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E4C59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3E4C59"/>
                    </a:solidFill>
                    <a:latin typeface="+mn-lt"/>
                  </a:rPr>
                  <a:t>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3E4C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the method that wins in the lab loses most of its advantage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numbers on the right are the whole project in miniature: the textbook saving and the real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scope; the rubric rewards a clearly bounded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states left to right, then point at the blocked loop. Then drop to the cabin strip and explain blocking.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line is the point of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zero hard-coded constants: it is what makes the sensitivity sweeps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techniques, not just the libraries. The rubric asks for use of tools AND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random numbers is the one methodological choice worth dwelling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ranking never changes. What changes is the size of Steffen's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shows analytical depth. Duration, not count, is what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saying the direction of the effect. Audiences expect compliance to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Steffen's three walk-speed lines sit on top of each other: stowing is the bottleneck, not walking.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verification from validation explicitly. Graders look for that distinction.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2 is the headline: discipline beats strategy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3 is a genuine research opening that the literature does not address.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maximum. Have the dashboard already running on a second tab before the talk starts. Switch back to the deck before speaking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finding,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64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0F2F4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3E4C59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382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99"/>
                </a:solidFill>
              </a:rPr>
              <a:t>Airplane Boarding Simulation  |  Modeling and Simulation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Why Filipino passengers break the world's fastest boarding method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Simulating and Comparing Airplane Boarding Strategies for Philippine Domestic Flights
</a:t>
            </a:r>
            <a:endParaRPr lang="en-US" sz="15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7A8B99"/>
                </a:solidFill>
              </a:rPr>
              <a:t>Agent-based discrete-event simulation  ·  Airbus A320  ·  180 passengers  ·  200 replications per condition
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833A"/>
                </a:solidFill>
              </a:rPr>
              <a:t>Arnulfo L. Sabayo III   ·   Jessica Danielle D. Dorosan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82296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Carriers use the slowest method, and no model accounts for our passengers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Problem definition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Philippine domestic carriers board back to front, which the literature identifies as the worst performer.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Published models assume individual travel, strict compliance with boarding calls, and uniform carry-on.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Philippine operations violate all three: family groups, loose compliance, and heavy pasalubong.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No study measures what those behaviours cost, or which strategy survives them.</a:t>
            </a:r>
            <a:endParaRPr lang="en-US" sz="1450" dirty="0"/>
          </a:p>
        </p:txBody>
      </p:sp>
      <p:sp>
        <p:nvSpPr>
          <p:cNvPr id="5" name="problem-stat"/>
          <p:cNvSpPr/>
          <p:nvPr/>
        </p:nvSpPr>
        <p:spPr>
          <a:xfrm>
            <a:off x="6858000" y="1783080"/>
            <a:ext cx="4754880" cy="2834640"/>
          </a:xfrm>
          <a:prstGeom prst="roundRect">
            <a:avLst>
              <a:gd name="adj" fmla="val 2581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1938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C59"/>
                </a:solidFill>
              </a:rPr>
              <a:t>The gap this project closes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3317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A7F8F"/>
                </a:solidFill>
              </a:rPr>
              <a:t>907 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30266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Ideal-case saving from dropping back-to-front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35204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833A"/>
                </a:solidFill>
              </a:rPr>
              <a:t>525 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42153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What actually survives Philippine conditions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Build it, stress it, then say what an airline should do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Objectives and scope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8105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9"/>
                </a:solidFill>
              </a:rPr>
              <a:t>A 30-row A320 cabin as a 1D cell array with six agent states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9"/>
                </a:solidFill>
              </a:rPr>
              <a:t>Four strategies: Random, Back-to-Front, Outside-In, Steffen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Stress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9"/>
                </a:solidFill>
              </a:rPr>
              <a:t>Seven Filipino behaviour features, each independently toggled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40599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Prove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9"/>
                </a:solidFill>
              </a:rPr>
              <a:t>16 automated tests plus validation against published rankings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28032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28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4809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Advise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48097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C59"/>
                </a:solidFill>
              </a:rPr>
              <a:t>Translate the findings into boarding policy for carriers</a:t>
            </a:r>
            <a:endParaRPr lang="en-US" sz="1300" dirty="0"/>
          </a:p>
        </p:txBody>
      </p:sp>
      <p:sp>
        <p:nvSpPr>
          <p:cNvPr id="24" name="scope-card"/>
          <p:cNvSpPr/>
          <p:nvPr/>
        </p:nvSpPr>
        <p:spPr>
          <a:xfrm>
            <a:off x="7863840" y="1783080"/>
            <a:ext cx="3749040" cy="3840480"/>
          </a:xfrm>
          <a:prstGeom prst="roundRect">
            <a:avLst>
              <a:gd name="adj" fmla="val 1951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C59"/>
                </a:solidFill>
              </a:rPr>
              <a:t>Out of scope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2286000"/>
            <a:ext cx="3200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Dual-door and rear-stair boarding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Priority tiers and pre-boarding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Load factors below 100 percent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Two-dimensional passenger physics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Aircraft other than the A320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passenger per aisle cell, and stowing blocks everyone behind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Conceptual model: agent states and the cabin</a:t>
            </a:r>
            <a:endParaRPr lang="en-US" sz="1500" dirty="0"/>
          </a:p>
        </p:txBody>
      </p:sp>
      <p:sp>
        <p:nvSpPr>
          <p:cNvPr id="4" name="state-QUEUED"/>
          <p:cNvSpPr/>
          <p:nvPr/>
        </p:nvSpPr>
        <p:spPr>
          <a:xfrm>
            <a:off x="548640" y="1920240"/>
            <a:ext cx="1993392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QUEUED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40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at the gate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6896" y="2327148"/>
            <a:ext cx="210312" cy="27432"/>
          </a:xfrm>
          <a:prstGeom prst="rect">
            <a:avLst/>
          </a:prstGeom>
          <a:solidFill>
            <a:srgbClr val="7A8B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tate-WALKING"/>
          <p:cNvSpPr/>
          <p:nvPr/>
        </p:nvSpPr>
        <p:spPr>
          <a:xfrm>
            <a:off x="2862072" y="1920240"/>
            <a:ext cx="1993392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WALKING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62072" y="2340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up the aisle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10328" y="2327148"/>
            <a:ext cx="210312" cy="27432"/>
          </a:xfrm>
          <a:prstGeom prst="rect">
            <a:avLst/>
          </a:prstGeom>
          <a:solidFill>
            <a:srgbClr val="7A8B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tate-STOWING"/>
          <p:cNvSpPr/>
          <p:nvPr/>
        </p:nvSpPr>
        <p:spPr>
          <a:xfrm>
            <a:off x="5175504" y="1920240"/>
            <a:ext cx="1993392" cy="841248"/>
          </a:xfrm>
          <a:prstGeom prst="roundRect">
            <a:avLst>
              <a:gd name="adj" fmla="val 8696"/>
            </a:avLst>
          </a:prstGeom>
          <a:solidFill>
            <a:srgbClr val="E8833A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75504" y="1920240"/>
            <a:ext cx="1993392" cy="841248"/>
          </a:xfrm>
          <a:prstGeom prst="roundRect">
            <a:avLst>
              <a:gd name="adj" fmla="val 8696"/>
            </a:avLst>
          </a:prstGeom>
          <a:solidFill>
            <a:srgbClr val="E8833A"/>
          </a:solidFill>
          <a:ln w="15875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75504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STOWING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340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E6D4"/>
                </a:solidFill>
              </a:rPr>
              <a:t>bags overhead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2327148"/>
            <a:ext cx="210312" cy="27432"/>
          </a:xfrm>
          <a:prstGeom prst="rect">
            <a:avLst/>
          </a:prstGeom>
          <a:solidFill>
            <a:srgbClr val="7A8B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tate-SEATING"/>
          <p:cNvSpPr/>
          <p:nvPr/>
        </p:nvSpPr>
        <p:spPr>
          <a:xfrm>
            <a:off x="7488936" y="1920240"/>
            <a:ext cx="1993392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88936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SEATING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88936" y="2340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entering seat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37192" y="2327148"/>
            <a:ext cx="210312" cy="27432"/>
          </a:xfrm>
          <a:prstGeom prst="rect">
            <a:avLst/>
          </a:prstGeom>
          <a:solidFill>
            <a:srgbClr val="7A8B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tate-SEATED"/>
          <p:cNvSpPr/>
          <p:nvPr/>
        </p:nvSpPr>
        <p:spPr>
          <a:xfrm>
            <a:off x="9802368" y="1920240"/>
            <a:ext cx="1993392" cy="841248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02368" y="20299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SEATED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802368" y="2340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cell freed</a:t>
            </a:r>
            <a:endParaRPr lang="en-US" sz="1100" dirty="0"/>
          </a:p>
        </p:txBody>
      </p:sp>
      <p:sp>
        <p:nvSpPr>
          <p:cNvPr id="24" name="state-BLOCKED"/>
          <p:cNvSpPr/>
          <p:nvPr/>
        </p:nvSpPr>
        <p:spPr>
          <a:xfrm>
            <a:off x="2862072" y="3154680"/>
            <a:ext cx="1993392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62072" y="3246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BLOCKED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862072" y="35204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cell ahead taken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5052" y="2761488"/>
            <a:ext cx="27432" cy="393192"/>
          </a:xfrm>
          <a:prstGeom prst="rect">
            <a:avLst/>
          </a:prstGeom>
          <a:solidFill>
            <a:srgbClr val="7A8B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75504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B99"/>
                </a:solidFill>
              </a:rPr>
              <a:t>loops back when the cell frees</a:t>
            </a:r>
            <a:endParaRPr lang="en-US" sz="1150" dirty="0"/>
          </a:p>
        </p:txBody>
      </p:sp>
      <p:sp>
        <p:nvSpPr>
          <p:cNvPr id="29" name="cabin-card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3159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Seat blocking is what makes order matter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4754880"/>
            <a:ext cx="694944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22225">
            <a:solidFill>
              <a:srgbClr val="E883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475488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609344" y="4754880"/>
            <a:ext cx="694944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9525">
            <a:solidFill>
              <a:srgbClr val="7A8B9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09344" y="475488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395728" y="4754880"/>
            <a:ext cx="694944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9525">
            <a:solidFill>
              <a:srgbClr val="7A8B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395728" y="475488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182112" y="4754880"/>
            <a:ext cx="694944" cy="566928"/>
          </a:xfrm>
          <a:prstGeom prst="roundRect">
            <a:avLst>
              <a:gd name="adj" fmla="val 9677"/>
            </a:avLst>
          </a:prstGeom>
          <a:solidFill>
            <a:srgbClr val="F0F2F4"/>
          </a:solidFill>
          <a:ln w="9525">
            <a:solidFill>
              <a:srgbClr val="7A8B99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3182112" y="475488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E4C59"/>
                </a:solidFill>
              </a:rPr>
              <a:t>aisle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68496" y="4754880"/>
            <a:ext cx="694944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9525">
            <a:solidFill>
              <a:srgbClr val="7A8B9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68496" y="475488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4754880"/>
            <a:ext cx="694944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9525">
            <a:solidFill>
              <a:srgbClr val="7A8B9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54880" y="475488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541264" y="4754880"/>
            <a:ext cx="694944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9525">
            <a:solidFill>
              <a:srgbClr val="7A8B9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541264" y="4754880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492240" y="4572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</a:rPr>
              <a:t>To reach the window seat A, a passenger must pass C and B. Each neighbour already seated costs a shuffle delay of 4 to 10 seconds.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5349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F8F"/>
                </a:solidFill>
              </a:rPr>
              <a:t>Outside-In and Steffen both seat windows first, so both record exactly zero seat interference.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four strategies differ in one thing: who is called when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Each strategy orders the same 180 passengers differently</a:t>
            </a:r>
            <a:endParaRPr lang="en-US" sz="1500" dirty="0"/>
          </a:p>
        </p:txBody>
      </p:sp>
      <p:sp>
        <p:nvSpPr>
          <p:cNvPr id="4" name="strat-0"/>
          <p:cNvSpPr/>
          <p:nvPr/>
        </p:nvSpPr>
        <p:spPr>
          <a:xfrm>
            <a:off x="548640" y="182880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365760" cy="365760"/>
          </a:xfrm>
          <a:prstGeom prst="ellipse">
            <a:avLst/>
          </a:prstGeom>
          <a:solidFill>
            <a:srgbClr val="7A8B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Random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0665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8B99"/>
                </a:solidFill>
              </a:rPr>
              <a:t>90 shuffles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7860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</a:rPr>
              <a:t>Uniform shuffle, no structure. The control case.</a:t>
            </a:r>
            <a:endParaRPr lang="en-US" sz="1250" dirty="0"/>
          </a:p>
        </p:txBody>
      </p:sp>
      <p:sp>
        <p:nvSpPr>
          <p:cNvPr id="9" name="strat-1"/>
          <p:cNvSpPr/>
          <p:nvPr/>
        </p:nvSpPr>
        <p:spPr>
          <a:xfrm>
            <a:off x="6355080" y="182880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1112" y="2084832"/>
            <a:ext cx="365760" cy="365760"/>
          </a:xfrm>
          <a:prstGeom prst="ellipse">
            <a:avLst/>
          </a:prstGeom>
          <a:solidFill>
            <a:srgbClr val="B33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Back-to-Front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287000" y="20665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3321F"/>
                </a:solidFill>
              </a:rPr>
              <a:t>90 shuffles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11112" y="257860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</a:rPr>
              <a:t>Five zones of six rows, rear zone first, random within a zone.</a:t>
            </a:r>
            <a:endParaRPr lang="en-US" sz="1250" dirty="0"/>
          </a:p>
        </p:txBody>
      </p:sp>
      <p:sp>
        <p:nvSpPr>
          <p:cNvPr id="14" name="strat-2"/>
          <p:cNvSpPr/>
          <p:nvPr/>
        </p:nvSpPr>
        <p:spPr>
          <a:xfrm>
            <a:off x="548640" y="37947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050792"/>
            <a:ext cx="365760" cy="36576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40142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Outside-In (WilMA)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40325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7F8F"/>
                </a:solidFill>
              </a:rPr>
              <a:t>0 shuffles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5445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</a:rPr>
              <a:t>Three waves: all windows, then all middles, then all aisles.</a:t>
            </a:r>
            <a:endParaRPr lang="en-US" sz="1250" dirty="0"/>
          </a:p>
        </p:txBody>
      </p:sp>
      <p:sp>
        <p:nvSpPr>
          <p:cNvPr id="19" name="strat-3"/>
          <p:cNvSpPr/>
          <p:nvPr/>
        </p:nvSpPr>
        <p:spPr>
          <a:xfrm>
            <a:off x="6355080" y="379476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1112" y="4050792"/>
            <a:ext cx="365760" cy="36576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0" y="40142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Steffen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287000" y="40325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833A"/>
                </a:solidFill>
              </a:rPr>
              <a:t>0 shuffles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11112" y="45445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</a:rPr>
              <a:t>Six waves: windows on even rows, then odd, then middles, then aisles. Back to front within each wave.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A7F8F"/>
                </a:solidFill>
              </a:rPr>
              <a:t>Seat interference is fixed by within-row order. Aisle congestion is fixed by spacing. Only Steffen does both.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modular engine with the configuration fully decoupled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Implementation</a:t>
            </a:r>
            <a:endParaRPr lang="en-US" sz="1500" dirty="0"/>
          </a:p>
        </p:txBody>
      </p:sp>
      <p:sp>
        <p:nvSpPr>
          <p:cNvPr id="4" name="mod-0"/>
          <p:cNvSpPr/>
          <p:nvPr/>
        </p:nvSpPr>
        <p:spPr>
          <a:xfrm>
            <a:off x="548640" y="187452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cabin.py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951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Seat map and blocking</a:t>
            </a:r>
            <a:endParaRPr lang="en-US" sz="1150" dirty="0"/>
          </a:p>
        </p:txBody>
      </p:sp>
      <p:sp>
        <p:nvSpPr>
          <p:cNvPr id="7" name="mod-1"/>
          <p:cNvSpPr/>
          <p:nvPr/>
        </p:nvSpPr>
        <p:spPr>
          <a:xfrm>
            <a:off x="3337560" y="187452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2152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passenger.py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2951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Agent dataclass and states</a:t>
            </a:r>
            <a:endParaRPr lang="en-US" sz="1150" dirty="0"/>
          </a:p>
        </p:txBody>
      </p:sp>
      <p:sp>
        <p:nvSpPr>
          <p:cNvPr id="10" name="mod-2"/>
          <p:cNvSpPr/>
          <p:nvPr/>
        </p:nvSpPr>
        <p:spPr>
          <a:xfrm>
            <a:off x="6126480" y="187452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strategies.py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22951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The four orderings</a:t>
            </a:r>
            <a:endParaRPr lang="en-US" sz="1150" dirty="0"/>
          </a:p>
        </p:txBody>
      </p:sp>
      <p:sp>
        <p:nvSpPr>
          <p:cNvPr id="13" name="mod-3"/>
          <p:cNvSpPr/>
          <p:nvPr/>
        </p:nvSpPr>
        <p:spPr>
          <a:xfrm>
            <a:off x="8915400" y="187452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9992" y="19842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behavior.py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79992" y="229514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Seven behaviour features</a:t>
            </a:r>
            <a:endParaRPr lang="en-US" sz="1150" dirty="0"/>
          </a:p>
        </p:txBody>
      </p:sp>
      <p:sp>
        <p:nvSpPr>
          <p:cNvPr id="16" name="mod-4"/>
          <p:cNvSpPr/>
          <p:nvPr/>
        </p:nvSpPr>
        <p:spPr>
          <a:xfrm>
            <a:off x="548640" y="292608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035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simulation.py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Time-step engine</a:t>
            </a:r>
            <a:endParaRPr lang="en-US" sz="1150" dirty="0"/>
          </a:p>
        </p:txBody>
      </p:sp>
      <p:sp>
        <p:nvSpPr>
          <p:cNvPr id="19" name="mod-5"/>
          <p:cNvSpPr/>
          <p:nvPr/>
        </p:nvSpPr>
        <p:spPr>
          <a:xfrm>
            <a:off x="3337560" y="292608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02152" y="3035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experiments.py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Replications and CRN</a:t>
            </a:r>
            <a:endParaRPr lang="en-US" sz="1150" dirty="0"/>
          </a:p>
        </p:txBody>
      </p:sp>
      <p:sp>
        <p:nvSpPr>
          <p:cNvPr id="22" name="mod-6"/>
          <p:cNvSpPr/>
          <p:nvPr/>
        </p:nvSpPr>
        <p:spPr>
          <a:xfrm>
            <a:off x="6126480" y="292608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91072" y="3035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stats.py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Tests, intervals, effect size</a:t>
            </a:r>
            <a:endParaRPr lang="en-US" sz="1150" dirty="0"/>
          </a:p>
        </p:txBody>
      </p:sp>
      <p:sp>
        <p:nvSpPr>
          <p:cNvPr id="25" name="mod-7"/>
          <p:cNvSpPr/>
          <p:nvPr/>
        </p:nvSpPr>
        <p:spPr>
          <a:xfrm>
            <a:off x="8915400" y="2926080"/>
            <a:ext cx="2606040" cy="896112"/>
          </a:xfrm>
          <a:prstGeom prst="roundRect">
            <a:avLst>
              <a:gd name="adj" fmla="val 816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79992" y="3035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8F"/>
                </a:solidFill>
              </a:rPr>
              <a:t>charts.py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079992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Figure generation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2519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4,715</a:t>
            </a:r>
            <a:endParaRPr lang="en-US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9469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lines of Python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337560" y="42519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16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3337560" y="49469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tests, all passing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42519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26 ms</a:t>
            </a:r>
            <a:endParaRPr lang="en-US" sz="40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49469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per replication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915400" y="4251960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833A"/>
                </a:solidFill>
              </a:rPr>
              <a:t>0</a:t>
            </a:r>
            <a:endParaRPr lang="en-US" sz="40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49469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hard-coded constants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4C59"/>
                </a:solidFill>
              </a:rPr>
              <a:t>Every parameter lives in one YAML file and is labelled with its provenance, either a citation or the word ASSUMED.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Standard scientific Python, with one job each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Tools and techniques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47672"/>
            <a:ext cx="457200" cy="45720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892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numpy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2037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Seeded random streams, vectorised draws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947672"/>
            <a:ext cx="457200" cy="457200"/>
          </a:xfrm>
          <a:prstGeom prst="ellipse">
            <a:avLst/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76872" y="18928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pandas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976872" y="22037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Tidy per-run records, six CSV datasets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35224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880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scipy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1912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Paired t-tests, ANOVA, Mann-Whitney 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2935224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76872" y="28803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matplotlib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976872" y="31912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Seven figures and four GIF animations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3867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pytest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178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16 invariant and kinematic tests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922776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38679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PyYAML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41788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Single decoupled configuration file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10328"/>
            <a:ext cx="457200" cy="457200"/>
          </a:xfrm>
          <a:prstGeom prst="ellipse">
            <a:avLst/>
          </a:prstGeom>
          <a:solidFill>
            <a:srgbClr val="4A5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70432" y="48554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Flask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170432" y="5166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Interactive browser dashboard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4910328"/>
            <a:ext cx="457200" cy="457200"/>
          </a:xfrm>
          <a:prstGeom prst="ellipse">
            <a:avLst/>
          </a:prstGeom>
          <a:solidFill>
            <a:srgbClr val="4A5A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976872" y="48554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Jupyter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51663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Analysis notebook, 16 cells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A7F8F"/>
                </a:solidFill>
              </a:rPr>
              <a:t>Techniques: common random numbers for variance reduction, bootstrap confidence intervals, Bonferroni correction, and ablation.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Every strategy faces the identical 180 passengers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Experiment design and common random numbers</a:t>
            </a:r>
            <a:endParaRPr lang="en-US" sz="1500" dirty="0"/>
          </a:p>
        </p:txBody>
      </p:sp>
      <p:sp>
        <p:nvSpPr>
          <p:cNvPr id="4" name="crn-card"/>
          <p:cNvSpPr/>
          <p:nvPr/>
        </p:nvSpPr>
        <p:spPr>
          <a:xfrm>
            <a:off x="548640" y="178308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Common random numbers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</a:rPr>
              <a:t>Each replication generates one passenger population from seed 12345 plus the replication index, then runs all four strategies against that same population. Differences between strategies cannot be demographic noise.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1783080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801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Baseline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1801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Ideal conditions, 4 strategies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2450592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Philippine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All seven behaviours active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3118104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136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Compliance sweep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100, 90, 75, 50, 25, 0 percent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3785616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8039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Group sweep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8039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0, 20, 40, 60 percent in groups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4453128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4714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Sensitivity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44714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Stow time x4, walk speed x3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5120640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5138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Ablation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5138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Each behaviour alone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069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833A"/>
                </a:solidFill>
              </a:rPr>
              <a:t>200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64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replications per condition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108960" y="40690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800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4764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runs in 20.5 seconds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Steffen wins in both worlds, but loses the most ground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Mean total boarding time, 200 replications per condition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406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sults-card"/>
          <p:cNvSpPr/>
          <p:nvPr/>
        </p:nvSpPr>
        <p:spPr>
          <a:xfrm>
            <a:off x="8229600" y="173736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901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the gap costs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</a:rPr>
              <a:t>+76%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26334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Steffen under Philippine conditions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</a:rPr>
              <a:t>+9%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35021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Back-to-Front, which has little left to lose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F8F"/>
                </a:solidFill>
              </a:rPr>
              <a:t>F = 8,853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370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One-way ANOVA on 3 and 796 df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F8F"/>
                </a:solidFill>
              </a:rPr>
              <a:t>p &lt; 0.001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52395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59"/>
                </a:solidFill>
              </a:rPr>
              <a:t>All six pairwise tests, Bonferroni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Counting blocking events does not predict the winner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Interference events per run, baseline conditions</a:t>
            </a:r>
            <a:endParaRPr lang="en-US" sz="1500" dirty="0"/>
          </a:p>
        </p:txBody>
      </p:sp>
      <p:pic>
        <p:nvPicPr>
          <p:cNvPr id="4" name="Image 0" descr="/Users/jessicadorosan/Downloads/Airplane Simulation/boarding_sim/results/fig1b_interference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675120" cy="3666744"/>
          </a:xfrm>
          <a:prstGeom prst="rect">
            <a:avLst/>
          </a:prstGeom>
        </p:spPr>
      </p:pic>
      <p:sp>
        <p:nvSpPr>
          <p:cNvPr id="5" name="why-card"/>
          <p:cNvSpPr/>
          <p:nvPr/>
        </p:nvSpPr>
        <p:spPr>
          <a:xfrm>
            <a:off x="7498080" y="178308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Steffen records the second-highest number of aisle blocks, 1,266 per flight, yet finishes fastest.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4C59"/>
                </a:solidFill>
              </a:rPr>
              <a:t>What differs is how long each block lasts.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0040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A7F8F"/>
                </a:solidFill>
              </a:rPr>
              <a:t>1.8 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8953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per block, Steffen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32004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321F"/>
                </a:solidFill>
              </a:rPr>
              <a:t>8.8 s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9601200" y="38953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per block, Back-to-Front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617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Outside-In and Steffen record exactly zero seat shuffles. Random and Back-to-Front each carry about 90.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Back-to-front gets slower when passengers obey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The most counter-intuitive result in the study</a:t>
            </a:r>
            <a:endParaRPr lang="en-US" sz="1500" dirty="0"/>
          </a:p>
        </p:txBody>
      </p:sp>
      <p:pic>
        <p:nvPicPr>
          <p:cNvPr id="4" name="Image 0" descr="/Users/jessicadorosan/Downloads/Airplane Simulation/boarding_sim/results/fig3_compliance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675120" cy="3666744"/>
          </a:xfrm>
          <a:prstGeom prst="rect">
            <a:avLst/>
          </a:prstGeom>
        </p:spPr>
      </p:pic>
      <p:sp>
        <p:nvSpPr>
          <p:cNvPr id="5" name="paradox-card"/>
          <p:cNvSpPr/>
          <p:nvPr/>
        </p:nvSpPr>
        <p:spPr>
          <a:xfrm>
            <a:off x="7498080" y="178308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E8833A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0" y="1783080"/>
            <a:ext cx="4114800" cy="3657600"/>
          </a:xfrm>
          <a:prstGeom prst="roundRect">
            <a:avLst>
              <a:gd name="adj" fmla="val 2000"/>
            </a:avLst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1,405 s  to  1,915 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487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D4"/>
                </a:solidFill>
              </a:rPr>
              <a:t>Back-to-Front as compliance rises from zero to full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0632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Obeying a back-to-front call perfectly is precisely what creates the jam. Everyone called at once walks to the same six rows.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114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E6D4"/>
                </a:solidFill>
              </a:rPr>
              <a:t>When nobody complies, all four strategies converge near 1,400 seconds, because the order has become random.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ranking survives every stress we applied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Sensitivity: stow time halved to doubled, walk speed 0.6 to 1.0 m/s</a:t>
            </a:r>
            <a:endParaRPr lang="en-US" sz="1500" dirty="0"/>
          </a:p>
        </p:txBody>
      </p:sp>
      <p:pic>
        <p:nvPicPr>
          <p:cNvPr id="4" name="Image 0" descr="/Users/jessicadorosan/Downloads/Airplane Simulation/boarding_sim/results/fig5_sensitivit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11064240" cy="34198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4406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A7F8F"/>
                </a:solidFill>
              </a:rPr>
              <a:t>12 of 12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135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conditions with Steffen first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337560" y="54406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321F"/>
                </a:solidFill>
              </a:rPr>
              <a:t>12 of 12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3337560" y="6135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conditions with Back-to-Front last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54406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833A"/>
                </a:solidFill>
              </a:rPr>
              <a:t>+38%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6135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Steffen's rise from half to double stow time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54406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A8B99"/>
                </a:solidFill>
              </a:rPr>
              <a:t>+103%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6135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Outside-In's rise over the same range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Verified against hand calculations, validated against the literature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Validation and testing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F"/>
                </a:solidFill>
              </a:rPr>
              <a:t>Verification: is the model built correctly?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128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Single passenger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Hand-computed timings match the engine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986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Two in a row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880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Seat interference counted in both directions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8444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5844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Strategies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Valid 180-passenger permutations, correct order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70248"/>
            <a:ext cx="475488" cy="384048"/>
          </a:xfrm>
          <a:prstGeom prst="roundRect">
            <a:avLst>
              <a:gd name="adj" fmla="val 14286"/>
            </a:avLst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7024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Invariants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251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50 full runs: no shared cells, no backward motion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</a:rPr>
              <a:t>Validation: does it behave like reality?</a:t>
            </a:r>
            <a:endParaRPr lang="en-US" sz="1400" dirty="0"/>
          </a:p>
        </p:txBody>
      </p:sp>
      <p:sp>
        <p:nvSpPr>
          <p:cNvPr id="22" name="val-0"/>
          <p:cNvSpPr/>
          <p:nvPr/>
        </p:nvSpPr>
        <p:spPr>
          <a:xfrm>
            <a:off x="6400800" y="21579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21945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Ranking matches Steffen and Hotchkiss (2012)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744200" y="21945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7F8F"/>
                </a:solidFill>
              </a:rPr>
              <a:t>Pass</a:t>
            </a:r>
            <a:endParaRPr lang="en-US" sz="1150" dirty="0"/>
          </a:p>
        </p:txBody>
      </p:sp>
      <p:sp>
        <p:nvSpPr>
          <p:cNvPr id="25" name="val-1"/>
          <p:cNvSpPr/>
          <p:nvPr/>
        </p:nvSpPr>
        <p:spPr>
          <a:xfrm>
            <a:off x="6400800" y="28437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28803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Outside-In records zero seat interference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744200" y="28803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7F8F"/>
                </a:solidFill>
              </a:rPr>
              <a:t>Pass</a:t>
            </a:r>
            <a:endParaRPr lang="en-US" sz="1150" dirty="0"/>
          </a:p>
        </p:txBody>
      </p:sp>
      <p:sp>
        <p:nvSpPr>
          <p:cNvPr id="28" name="val-2"/>
          <p:cNvSpPr/>
          <p:nvPr/>
        </p:nvSpPr>
        <p:spPr>
          <a:xfrm>
            <a:off x="6400800" y="35295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35661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Heavy luggage slows every strategy, 5 to 14 percent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744200" y="35661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7F8F"/>
                </a:solidFill>
              </a:rPr>
              <a:t>Pass</a:t>
            </a:r>
            <a:endParaRPr lang="en-US" sz="1150" dirty="0"/>
          </a:p>
        </p:txBody>
      </p:sp>
      <p:sp>
        <p:nvSpPr>
          <p:cNvPr id="31" name="val-3"/>
          <p:cNvSpPr/>
          <p:nvPr/>
        </p:nvSpPr>
        <p:spPr>
          <a:xfrm>
            <a:off x="6400800" y="421538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4251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Identical seed gives byte-identical output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744200" y="42519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7F8F"/>
                </a:solidFill>
              </a:rPr>
              <a:t>Pass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4C59"/>
                </a:solidFill>
              </a:rPr>
              <a:t>Rankings are compared, not absolute times: the 2012 physical trial used a 12-row mock cabin, so durations are not comparable with a 30-row simulation.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a Philippine carrier should actually do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Recommendations, ordered by size of gain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Stop boarding back to front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7830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Last in both scenarios and all 12 sensitivity conditions. Switching saves 525 s per turnaround under realistic conditions.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2A7F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06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Treat call discipline as the main lever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65176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Non-compliance alone costs Steffen 41 percent and group travel a further 53 percent.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420624" cy="42062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520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Enforce window-before-aisle seating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5204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Costs nothing and removes about 90 seat shuffles per flight.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420624" cy="420624"/>
          </a:xfrm>
          <a:prstGeom prst="ellipse">
            <a:avLst/>
          </a:prstGeom>
          <a:solidFill>
            <a:srgbClr val="4A5A68"/>
          </a:solidFill>
          <a:ln w="12700">
            <a:solidFill>
              <a:srgbClr val="4A5A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89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Manage carry-on at the gate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3891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Heavy hand-carry adds 14 percent to Back-to-Front and 5 percent to Steffen.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420624" cy="420624"/>
          </a:xfrm>
          <a:prstGeom prst="ellipse">
            <a:avLst/>
          </a:prstGeom>
          <a:solidFill>
            <a:srgbClr val="B3321F"/>
          </a:solidFill>
          <a:ln w="12700">
            <a:solidFill>
              <a:srgbClr val="B332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12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257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 not promise the published savings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2578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C59"/>
                </a:solidFill>
              </a:rPr>
              <a:t>Plan schedules against 525 seconds, not the 907 the ideal case suggests.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would change the answer next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Recommendations for future work</a:t>
            </a:r>
            <a:endParaRPr lang="en-US" sz="1500" dirty="0"/>
          </a:p>
        </p:txBody>
      </p:sp>
      <p:sp>
        <p:nvSpPr>
          <p:cNvPr id="4" name="fut-0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84832"/>
            <a:ext cx="420624" cy="420624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700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Measure, do not assume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A gate observation study at a domestic terminal would convert the behaviour sweeps from plausible ranges into calibrated estimates. This is the model's largest weakness.</a:t>
            </a:r>
            <a:endParaRPr lang="en-US" sz="1150" dirty="0"/>
          </a:p>
        </p:txBody>
      </p:sp>
      <p:sp>
        <p:nvSpPr>
          <p:cNvPr id="9" name="fut-1"/>
          <p:cNvSpPr/>
          <p:nvPr/>
        </p:nvSpPr>
        <p:spPr>
          <a:xfrm>
            <a:off x="4279392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84832"/>
            <a:ext cx="420624" cy="420624"/>
          </a:xfrm>
          <a:prstGeom prst="ellipse">
            <a:avLst/>
          </a:prstGeom>
          <a:solidFill>
            <a:srgbClr val="2A7F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700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dual-door boarding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Many Philippine domestic flights board through front and rear stairs, which the single-door engine cannot represent. It may compress the gaps between strategies.</a:t>
            </a:r>
            <a:endParaRPr lang="en-US" sz="1150" dirty="0"/>
          </a:p>
        </p:txBody>
      </p:sp>
      <p:sp>
        <p:nvSpPr>
          <p:cNvPr id="14" name="fut-2"/>
          <p:cNvSpPr/>
          <p:nvPr/>
        </p:nvSpPr>
        <p:spPr>
          <a:xfrm>
            <a:off x="8010144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084832"/>
            <a:ext cx="420624" cy="42062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84464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26700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compliance-robust strategies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4C59"/>
                </a:solidFill>
              </a:rPr>
              <a:t>Most of Steffen's advantage depends on obedience. A strategy built to degrade gracefully could beat it in practice. No published method targets this.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E4C59"/>
                </a:solidFill>
              </a:rPr>
              <a:t>Four more extensions are listed in the written report: load factor sweeps, other aircraft, recalibrated stow time, and a repeated-measures statistical model.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Live demonstration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E4C59"/>
                </a:solidFill>
              </a:rPr>
              <a:t>Twelve minutes of numbers. Now the model that produced them.</a:t>
            </a:r>
            <a:endParaRPr lang="en-US" sz="1500" dirty="0"/>
          </a:p>
        </p:txBody>
      </p:sp>
      <p:pic>
        <p:nvPicPr>
          <p:cNvPr id="4" name="Image 0" descr="/private/tmp/claude-501/-Users-jessicadorosan-Downloads-png/a9f95a0b-cab7-41d6-9489-16769039fd37/scratchpad/dashboard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223760" cy="4069080"/>
          </a:xfrm>
          <a:prstGeom prst="rect">
            <a:avLst/>
          </a:prstGeom>
        </p:spPr>
      </p:pic>
      <p:sp>
        <p:nvSpPr>
          <p:cNvPr id="5" name="demo-card"/>
          <p:cNvSpPr/>
          <p:nvPr/>
        </p:nvSpPr>
        <p:spPr>
          <a:xfrm>
            <a:off x="8046720" y="1783080"/>
            <a:ext cx="3566160" cy="4069080"/>
          </a:xfrm>
          <a:prstGeom prst="roundRect">
            <a:avLst>
              <a:gd name="adj" fmla="val 2051"/>
            </a:avLst>
          </a:prstGeom>
          <a:solidFill>
            <a:srgbClr val="F0F2F4"/>
          </a:solidFill>
          <a:ln w="9525">
            <a:solidFill>
              <a:srgbClr val="F0F2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9385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What to point at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33172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Pick Steffen, press Run, watch the alternating rows fill.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Switch to Back-to-Front and watch the rear rows jam.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Drop compliance to 30 percent and re-run.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 the comparison table building up as each run finishes.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892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321F"/>
                </a:solidFill>
              </a:rPr>
              <a:t>Fallback: if the server will not start, play the saved GIF animations in the results folder.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2860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Discipline beats strategy choice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1148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Steffen is fastest everywhere we looked, but most of its advantage is contingent on passengers boarding in the order they are called. For a Philippine carrier, improving boarding-call compliance is worth more than adopting a new strategy.
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8833A"/>
                </a:solidFill>
              </a:rPr>
              <a:t>Arnulfo L. Sabayo III   ·   Jessica Danielle D. Dorosan
</a:t>
            </a:r>
            <a:endParaRPr lang="en-US" sz="15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7A8B99"/>
                </a:solidFill>
              </a:rPr>
              <a:t>Model, datasets, figures, dashboard and written report are all in the project repository.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6775704"/>
            <a:ext cx="12161520" cy="82296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oarding Simulation">
  <a:themeElements>
    <a:clrScheme name="Boarding Simulation">
      <a:dk1>
        <a:srgbClr val="1F2933"/>
      </a:dk1>
      <a:lt1>
        <a:srgbClr val="FFFFFF"/>
      </a:lt1>
      <a:dk2>
        <a:srgbClr val="3E4C59"/>
      </a:dk2>
      <a:lt2>
        <a:srgbClr val="F0F2F4"/>
      </a:lt2>
      <a:accent1>
        <a:srgbClr val="E8833A"/>
      </a:accent1>
      <a:accent2>
        <a:srgbClr val="2A7F8F"/>
      </a:accent2>
      <a:accent3>
        <a:srgbClr val="B3321F"/>
      </a:accent3>
      <a:accent4>
        <a:srgbClr val="7A8B99"/>
      </a:accent4>
      <a:accent5>
        <a:srgbClr val="4A5A68"/>
      </a:accent5>
      <a:accent6>
        <a:srgbClr val="D9A441"/>
      </a:accent6>
      <a:hlink>
        <a:srgbClr val="2A7F8F"/>
      </a:hlink>
      <a:folHlink>
        <a:srgbClr val="7A8B99"/>
      </a:folHlink>
    </a:clrScheme>
    <a:fontScheme name="Boarding Simula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Airplane Boarding Strategies for Philippine Domestic Flights</dc:title>
  <dc:subject>PptxGenJS Presentation</dc:subject>
  <dc:creator>Airplane Boarding Simulation Team</dc:creator>
  <cp:lastModifiedBy>Airplane Boarding Simulation Team</cp:lastModifiedBy>
  <cp:revision>1</cp:revision>
  <dcterms:created xsi:type="dcterms:W3CDTF">2026-10-08T11:50:53Z</dcterms:created>
  <dcterms:modified xsi:type="dcterms:W3CDTF">2026-10-08T11:50:53Z</dcterms:modified>
</cp:coreProperties>
</file>